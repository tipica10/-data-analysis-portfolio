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55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465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22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43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063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402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3059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280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0238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730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6088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289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827308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6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861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68701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9234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86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A006904-C37E-420B-8510-4E1A30803BD9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278CE-17EA-4AAF-A58E-897E4C5CCF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4977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EED3-BD89-4718-B61A-75B2E412B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196" y="232382"/>
            <a:ext cx="8045117" cy="682959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chemeClr val="accent2"/>
                </a:solidFill>
              </a:rPr>
              <a:t>Found Charity Shop – Sales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52A16-6DAD-7F7C-0B2E-83344180BB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4922" y="1789165"/>
            <a:ext cx="9055768" cy="753394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GB" sz="3200" b="1" dirty="0">
                <a:latin typeface="Bahnschrift" panose="020B0502040204020203" pitchFamily="34" charset="0"/>
              </a:rPr>
              <a:t>What 2 years of sales are telling us?</a:t>
            </a:r>
          </a:p>
          <a:p>
            <a:pPr algn="ctr"/>
            <a:r>
              <a:rPr lang="en-GB" i="1" dirty="0">
                <a:latin typeface="Aptos Display" panose="020B0004020202020204" pitchFamily="34" charset="0"/>
              </a:rPr>
              <a:t>Jan 2024 – Dec 2025 | 731 days of till data | £261,261 raised in total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E3B8D1-3993-CEF4-0FFE-822FED1F949E}"/>
              </a:ext>
            </a:extLst>
          </p:cNvPr>
          <p:cNvSpPr txBox="1"/>
          <p:nvPr/>
        </p:nvSpPr>
        <p:spPr>
          <a:xfrm>
            <a:off x="1122947" y="3283769"/>
            <a:ext cx="2671011" cy="92333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</a:rPr>
              <a:t>£131,870</a:t>
            </a:r>
          </a:p>
          <a:p>
            <a:pPr algn="ctr"/>
            <a:r>
              <a:rPr lang="en-GB" dirty="0"/>
              <a:t>2024 sales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61E6BC-5218-8A23-70CA-A71B9A47DE23}"/>
              </a:ext>
            </a:extLst>
          </p:cNvPr>
          <p:cNvSpPr txBox="1"/>
          <p:nvPr/>
        </p:nvSpPr>
        <p:spPr>
          <a:xfrm>
            <a:off x="8911388" y="2899047"/>
            <a:ext cx="2671011" cy="196977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</a:rPr>
              <a:t>3 methods</a:t>
            </a:r>
          </a:p>
          <a:p>
            <a:pPr algn="ctr"/>
            <a:r>
              <a:rPr lang="en-GB" dirty="0"/>
              <a:t>Regression, clustering and a forecasting model, each explained in plain English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24D9B-94A6-7CFB-496A-3B5F7362BD14}"/>
              </a:ext>
            </a:extLst>
          </p:cNvPr>
          <p:cNvSpPr txBox="1"/>
          <p:nvPr/>
        </p:nvSpPr>
        <p:spPr>
          <a:xfrm>
            <a:off x="4928937" y="3283769"/>
            <a:ext cx="2963780" cy="861774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</a:rPr>
              <a:t>£129,390</a:t>
            </a:r>
          </a:p>
          <a:p>
            <a:pPr algn="ctr"/>
            <a:r>
              <a:rPr lang="en-GB" dirty="0"/>
              <a:t>2025 sales (down 1.9%)</a:t>
            </a:r>
          </a:p>
        </p:txBody>
      </p:sp>
    </p:spTree>
    <p:extLst>
      <p:ext uri="{BB962C8B-B14F-4D97-AF65-F5344CB8AC3E}">
        <p14:creationId xmlns:p14="http://schemas.microsoft.com/office/powerpoint/2010/main" val="256055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85D4E-4EC1-D23A-51B2-FB0CA7F7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638" y="406998"/>
            <a:ext cx="9404723" cy="1400530"/>
          </a:xfrm>
        </p:spPr>
        <p:txBody>
          <a:bodyPr/>
          <a:lstStyle/>
          <a:p>
            <a:pPr algn="ctr"/>
            <a:r>
              <a:rPr lang="en-GB" dirty="0"/>
              <a:t>Every extra visitor is worth about </a:t>
            </a:r>
            <a:r>
              <a:rPr lang="en-GB" b="1" dirty="0">
                <a:solidFill>
                  <a:schemeClr val="accent2"/>
                </a:solidFill>
              </a:rPr>
              <a:t>£7.87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43FEB-8E57-F995-D217-EE5DAAF29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4792" y="2072512"/>
            <a:ext cx="8946541" cy="4195481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Across </a:t>
            </a:r>
            <a:r>
              <a:rPr lang="en-GB" b="1" dirty="0"/>
              <a:t>610 trading days</a:t>
            </a:r>
            <a:r>
              <a:rPr lang="en-GB" dirty="0"/>
              <a:t>, footfall was by far the most reliable predictor of takings. </a:t>
            </a:r>
          </a:p>
          <a:p>
            <a:pPr marL="0" indent="0" algn="ctr">
              <a:buNone/>
            </a:pPr>
            <a:r>
              <a:rPr lang="en-GB" dirty="0"/>
              <a:t>The plausible range is </a:t>
            </a:r>
            <a:r>
              <a:rPr lang="en-GB" b="1" dirty="0"/>
              <a:t>£7.19 to £8.55 </a:t>
            </a:r>
            <a:r>
              <a:rPr lang="en-GB" dirty="0"/>
              <a:t>per visitor, and the result is statistically very strong.</a:t>
            </a:r>
          </a:p>
          <a:p>
            <a:pPr algn="ctr"/>
            <a:endParaRPr lang="en-GB" dirty="0"/>
          </a:p>
          <a:p>
            <a:pPr marL="0" indent="0" algn="ctr">
              <a:buNone/>
            </a:pPr>
            <a:r>
              <a:rPr lang="en-GB" dirty="0"/>
              <a:t>So anything that gets more people through the door </a:t>
            </a:r>
            <a:r>
              <a:rPr lang="en-GB" b="1" dirty="0"/>
              <a:t>(window displays, events, local posts)</a:t>
            </a:r>
            <a:r>
              <a:rPr lang="en-GB" dirty="0"/>
              <a:t> pays back predictably. </a:t>
            </a:r>
          </a:p>
          <a:p>
            <a:pPr marL="0" indent="0" algn="ctr">
              <a:buNone/>
            </a:pPr>
            <a:r>
              <a:rPr lang="en-GB" dirty="0"/>
              <a:t>The model with guests, weekday and month explains about 58% of daily sales.</a:t>
            </a:r>
          </a:p>
        </p:txBody>
      </p:sp>
    </p:spTree>
    <p:extLst>
      <p:ext uri="{BB962C8B-B14F-4D97-AF65-F5344CB8AC3E}">
        <p14:creationId xmlns:p14="http://schemas.microsoft.com/office/powerpoint/2010/main" val="2886876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E8816-1946-5EDC-A387-DB9900D01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Saturday, Wednesday and Thursday lead</a:t>
            </a:r>
            <a:br>
              <a:rPr lang="en-GB" b="1" dirty="0"/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40F076-5629-B5D6-BAA7-8BC1631E57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8964" t="30414" r="2122" b="47793"/>
          <a:stretch>
            <a:fillRect/>
          </a:stretch>
        </p:blipFill>
        <p:spPr>
          <a:xfrm>
            <a:off x="2149643" y="2401449"/>
            <a:ext cx="7050505" cy="3321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61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735DB-03D4-995A-6C7F-0468C833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229" y="198093"/>
            <a:ext cx="9404723" cy="1400530"/>
          </a:xfrm>
        </p:spPr>
        <p:txBody>
          <a:bodyPr/>
          <a:lstStyle/>
          <a:p>
            <a:pPr algn="ctr"/>
            <a:r>
              <a:rPr lang="en-GB" dirty="0"/>
              <a:t>Categories to prioritise when sorting donations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D67134-AEA9-B188-460F-F87480085C67}"/>
              </a:ext>
            </a:extLst>
          </p:cNvPr>
          <p:cNvSpPr txBox="1"/>
          <p:nvPr/>
        </p:nvSpPr>
        <p:spPr>
          <a:xfrm>
            <a:off x="1969513" y="5708915"/>
            <a:ext cx="10114547" cy="36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Nearly 60p of every £1 comes from bric-a-brac and women's clothing. 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3E17724-682B-BFC8-582C-0818AD21D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1645" y="1853248"/>
            <a:ext cx="4969893" cy="360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17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0D963-9B69-2742-6DF8-B27A3CFB9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139" y="308812"/>
            <a:ext cx="9404723" cy="1400530"/>
          </a:xfrm>
        </p:spPr>
        <p:txBody>
          <a:bodyPr/>
          <a:lstStyle/>
          <a:p>
            <a:pPr algn="ctr"/>
            <a:r>
              <a:rPr lang="en-GB" dirty="0"/>
              <a:t>November and December are the peak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3D320-1FE5-AD63-968C-71BA9C5B4FC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872912" y="2059939"/>
            <a:ext cx="6636430" cy="959237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GB" sz="3200" b="1" dirty="0">
                <a:solidFill>
                  <a:srgbClr val="00B0F0"/>
                </a:solidFill>
              </a:rPr>
              <a:t>+£45 /+ £47</a:t>
            </a:r>
          </a:p>
          <a:p>
            <a:pPr marL="0" indent="0" algn="ctr">
              <a:buNone/>
            </a:pPr>
            <a:r>
              <a:rPr lang="en-GB" sz="1600" dirty="0"/>
              <a:t>Extra per day in Nov/ Dec versus January, at similar footfall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5CF07-CAF0-A9B1-1B43-56F96E4B0581}"/>
              </a:ext>
            </a:extLst>
          </p:cNvPr>
          <p:cNvSpPr txBox="1"/>
          <p:nvPr/>
        </p:nvSpPr>
        <p:spPr>
          <a:xfrm>
            <a:off x="2872912" y="3290300"/>
            <a:ext cx="6636430" cy="892552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rgbClr val="00B0F0"/>
                </a:solidFill>
              </a:rPr>
              <a:t>£13,472</a:t>
            </a:r>
          </a:p>
          <a:p>
            <a:pPr algn="ctr"/>
            <a:r>
              <a:rPr lang="en-GB" sz="1600" dirty="0"/>
              <a:t>best month: Oct 2024. Quietest: Aug 2024 at £8,521</a:t>
            </a:r>
            <a:endParaRPr lang="en-GB" sz="3200" b="1" dirty="0">
              <a:solidFill>
                <a:srgbClr val="00B0F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706799-062F-A9E8-2A32-8676D2FD8C5A}"/>
              </a:ext>
            </a:extLst>
          </p:cNvPr>
          <p:cNvSpPr txBox="1"/>
          <p:nvPr/>
        </p:nvSpPr>
        <p:spPr>
          <a:xfrm>
            <a:off x="2872912" y="4533449"/>
            <a:ext cx="6636430" cy="107721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B0F0"/>
                </a:solidFill>
              </a:rPr>
              <a:t>£9.75</a:t>
            </a:r>
          </a:p>
          <a:p>
            <a:pPr algn="ctr"/>
            <a:r>
              <a:rPr lang="en-GB" sz="1600" dirty="0"/>
              <a:t>average spend per visitor in Dec 2024, the highest month (low: £7.45 in Aug 2025)</a:t>
            </a:r>
          </a:p>
        </p:txBody>
      </p:sp>
    </p:spTree>
    <p:extLst>
      <p:ext uri="{BB962C8B-B14F-4D97-AF65-F5344CB8AC3E}">
        <p14:creationId xmlns:p14="http://schemas.microsoft.com/office/powerpoint/2010/main" val="398544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B9181-17E6-A428-E014-A5066EC2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2094" y="345649"/>
            <a:ext cx="9404723" cy="1400530"/>
          </a:xfrm>
        </p:spPr>
        <p:txBody>
          <a:bodyPr/>
          <a:lstStyle/>
          <a:p>
            <a:pPr algn="ctr"/>
            <a:r>
              <a:rPr lang="en-GB" dirty="0"/>
              <a:t>Three things to act on this quarter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87332-7FA4-F971-0C6D-7D07E8D1B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410" y="4881027"/>
            <a:ext cx="10078493" cy="166346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800" dirty="0"/>
              <a:t>Underlying takings are drifting gently </a:t>
            </a:r>
            <a:r>
              <a:rPr lang="en-GB" sz="1800" dirty="0">
                <a:solidFill>
                  <a:schemeClr val="accent1"/>
                </a:solidFill>
              </a:rPr>
              <a:t>down </a:t>
            </a:r>
            <a:r>
              <a:rPr lang="en-GB" sz="1800" dirty="0"/>
              <a:t>(~£363 to ~£340/day), so it's worth keeping an eye on footfall — since every extra visitor is worth about £7.87, the most reliable lever for reversing that drift is simply getting more people through the door. </a:t>
            </a:r>
          </a:p>
          <a:p>
            <a:pPr marL="0" indent="0" algn="ctr">
              <a:buNone/>
            </a:pPr>
            <a:r>
              <a:rPr lang="en-GB" sz="1600" b="1" i="1" dirty="0"/>
              <a:t>- Real focus on window displays and customer service to retain customers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34499F-6B76-5F62-FD48-6359B5842EFF}"/>
              </a:ext>
            </a:extLst>
          </p:cNvPr>
          <p:cNvSpPr txBox="1">
            <a:spLocks/>
          </p:cNvSpPr>
          <p:nvPr/>
        </p:nvSpPr>
        <p:spPr>
          <a:xfrm>
            <a:off x="874296" y="2033264"/>
            <a:ext cx="3384195" cy="228267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rgbClr val="002060"/>
            </a:solidFill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GB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Staff the strong days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chemeClr val="bg1"/>
                </a:solidFill>
              </a:rPr>
              <a:t>Put your best volunteers on Wednesday, Thursday and Saturday — the days the numbers show are genuinely busier, not just perceived as busier.</a:t>
            </a:r>
            <a:endParaRPr lang="en-GB" sz="1100" dirty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037B42C-E877-B651-1C4B-14D000DA0733}"/>
              </a:ext>
            </a:extLst>
          </p:cNvPr>
          <p:cNvSpPr txBox="1">
            <a:spLocks/>
          </p:cNvSpPr>
          <p:nvPr/>
        </p:nvSpPr>
        <p:spPr>
          <a:xfrm>
            <a:off x="4473778" y="2022191"/>
            <a:ext cx="3585755" cy="18517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rgbClr val="002060"/>
            </a:solidFill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GB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Protect the big two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chemeClr val="bg1"/>
                </a:solidFill>
              </a:rPr>
              <a:t>Bric-a-brac and women's clothing drive ~60% of sales. Prioritise sorting and shelf space for these before anything else.</a:t>
            </a:r>
            <a:endParaRPr lang="en-GB" sz="900" dirty="0">
              <a:solidFill>
                <a:schemeClr val="bg1"/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9286774-C966-E9FF-3927-85A73ACCDA4F}"/>
              </a:ext>
            </a:extLst>
          </p:cNvPr>
          <p:cNvSpPr txBox="1">
            <a:spLocks/>
          </p:cNvSpPr>
          <p:nvPr/>
        </p:nvSpPr>
        <p:spPr>
          <a:xfrm>
            <a:off x="8257957" y="2028722"/>
            <a:ext cx="3585754" cy="20672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57150">
            <a:solidFill>
              <a:srgbClr val="002060"/>
            </a:solidFill>
          </a:ln>
        </p:spPr>
        <p:txBody>
          <a:bodyPr vert="horz" wrap="square" lIns="91440" tIns="45720" rIns="91440" bIns="45720" rtlCol="0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GB" sz="32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Start Christmas prep early</a:t>
            </a:r>
          </a:p>
          <a:p>
            <a:pPr marL="0" indent="0" algn="ctr">
              <a:buNone/>
            </a:pPr>
            <a:r>
              <a:rPr lang="en-GB" sz="1400" dirty="0">
                <a:solidFill>
                  <a:schemeClr val="bg1"/>
                </a:solidFill>
              </a:rPr>
              <a:t>Nov–Dec is both busier and higher-spending per visitor. Build seasonal stock and any promotion from September.</a:t>
            </a:r>
            <a:endParaRPr lang="en-GB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481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377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 Display</vt:lpstr>
      <vt:lpstr>Bahnschrift</vt:lpstr>
      <vt:lpstr>Century Gothic</vt:lpstr>
      <vt:lpstr>Wingdings 3</vt:lpstr>
      <vt:lpstr>Ion</vt:lpstr>
      <vt:lpstr>Found Charity Shop – Sales Review</vt:lpstr>
      <vt:lpstr>Every extra visitor is worth about £7.87</vt:lpstr>
      <vt:lpstr>Saturday, Wednesday and Thursday lead </vt:lpstr>
      <vt:lpstr>Categories to prioritise when sorting donations</vt:lpstr>
      <vt:lpstr>November and December are the peak</vt:lpstr>
      <vt:lpstr>Three things to act on this quarter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UG-Balendran, Theephiga</dc:creator>
  <cp:lastModifiedBy>UG-Balendran, Theephiga</cp:lastModifiedBy>
  <cp:revision>7</cp:revision>
  <dcterms:created xsi:type="dcterms:W3CDTF">2026-09-28T11:46:25Z</dcterms:created>
  <dcterms:modified xsi:type="dcterms:W3CDTF">2026-09-29T11:02:17Z</dcterms:modified>
</cp:coreProperties>
</file>